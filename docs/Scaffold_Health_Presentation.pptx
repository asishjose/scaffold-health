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5029200" cy="5029200"/>
          </a:xfrm>
          <a:prstGeom prst="ellipse">
            <a:avLst/>
          </a:prstGeom>
          <a:solidFill>
            <a:srgbClr val="2539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640080"/>
            <a:ext cx="3291840" cy="3291840"/>
          </a:xfrm>
          <a:prstGeom prst="ellipse">
            <a:avLst/>
          </a:prstGeom>
          <a:solidFill>
            <a:srgbClr val="2C4278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25396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FB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 · CQRS · RAG-POWERED CLINICAL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601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 Health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Event-Sourced Clinical Knowledge Platform for Orthopedic Rehab Clinics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44348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C4278"/>
          </a:solidFill>
          <a:ln w="12700">
            <a:solidFill>
              <a:srgbClr val="4A60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434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Reconstruction Rehab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67328" y="44348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C4278"/>
          </a:solidFill>
          <a:ln w="12700">
            <a:solidFill>
              <a:srgbClr val="4A6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67328" y="4434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 CQRS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71616" y="443484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2C4278"/>
          </a:solidFill>
          <a:ln w="12700">
            <a:solidFill>
              <a:srgbClr val="4A60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71616" y="4434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Copilot &amp; Assistant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We’re Headed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251460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the solution, and who it’s built for.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2376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223760" y="251460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AI engineering, retrieval, and safety design.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3434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Proof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evaluation, live deployment, and what shipped.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023360"/>
            <a:ext cx="5212080" cy="1965960"/>
          </a:xfrm>
          <a:prstGeom prst="roundRect">
            <a:avLst>
              <a:gd name="adj" fmla="val 4186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34340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223760" y="484632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along the way, and the road ahead.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Documentation Burden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309360" cy="3977640"/>
          </a:xfrm>
          <a:prstGeom prst="roundRect">
            <a:avLst>
              <a:gd name="adj" fmla="val 2069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20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reality inside a rehab clinic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reports, discharge summaries, and referral notes pile up per patient — scattered, unstructured, ungoverned.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therapist re-reads a patient’s full history before every single appointment.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There’s no structured, provenance-tracked view of what is actually known about a patient’s condition and progress.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95160" y="1691640"/>
            <a:ext cx="4736592" cy="2331720"/>
          </a:xfrm>
          <a:prstGeom prst="roundRect">
            <a:avLst>
              <a:gd name="adj" fmla="val 352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6948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26948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Hinge Health, Sword Health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69480" y="25603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exercise tracking and motion capture — high-volume, low-acuity chronic pain. Not the documentation and clinical-reasoning burden of structured, surgeon-referred, protocol-driven recovery.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95160" y="4206240"/>
            <a:ext cx="4736592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129C8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69480" y="43434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gap — turning scattered documents into a trustworthy, structured, auditable knowledge base per patient — is what this project targets.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Scaffold Health, In One 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structured, auditable Patient Knowledge Profile — powering a Therapist Copilot and a Patient Assistant.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227832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130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Knowledge Profile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31520" y="42702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provenance-tracked record built from documents, notes, and check-ins.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88536" y="29718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2856" y="3227832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2856" y="38130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Therapist Copilot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62856" y="42702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Appointment-prep briefs and longitudinal reasoning across a patient’s history.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19872" y="2971800"/>
            <a:ext cx="3611880" cy="1828800"/>
          </a:xfrm>
          <a:prstGeom prst="roundRect">
            <a:avLst>
              <a:gd name="adj" fmla="val 4500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3227832"/>
            <a:ext cx="457200" cy="457200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94192" y="38130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Assistant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94192" y="427024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visibility and scoped Q&amp;A, grounded in patient-education content only.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112745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7D3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0749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therapist is always the sole clinical decision-maker — no AI output writes to a care plan.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2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reconstruction rehab, a structured ~9–12 month protocol.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Roles, Two Experiences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94560"/>
            <a:ext cx="5440680" cy="3657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745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Therapist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caseload visibility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patient profile detail, including provenance and flagged concerns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and prep-brief generation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chat, per patient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authority to advance a patient’s phase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91072" y="1691640"/>
            <a:ext cx="544068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91072" y="1691640"/>
            <a:ext cx="5440680" cy="868680"/>
          </a:xfrm>
          <a:prstGeom prst="roundRect">
            <a:avLst>
              <a:gd name="adj" fmla="val 9474"/>
            </a:avLst>
          </a:prstGeom>
          <a:solidFill>
            <a:srgbClr val="2E5395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1072" y="2194560"/>
            <a:ext cx="5440680" cy="365760"/>
          </a:xfrm>
          <a:prstGeom prst="rect">
            <a:avLst/>
          </a:prstGeom>
          <a:solidFill>
            <a:srgbClr val="2E53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565392" y="18745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51192" y="16916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56832" y="2834640"/>
            <a:ext cx="4709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record only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reduced view of their profile (no provenance, no flagged concerns)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submission (pain level + note)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Q&amp;A via the Patient Assistant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by their therapist — never self-registers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 role — the system is designed for a single clinic.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 to Decision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14600" y="233172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LLM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40280" y="2788920"/>
            <a:ext cx="274320" cy="9144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1417320"/>
            <a:ext cx="21488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9050">
            <a:solidFill>
              <a:srgbClr val="129C8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4173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facts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2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214884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9050">
            <a:solidFill>
              <a:srgbClr val="2E5395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33832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facts 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review queue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flipV="1">
            <a:off x="4297680" y="1810512"/>
            <a:ext cx="274320" cy="658368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97680" y="2606040"/>
            <a:ext cx="274320" cy="1161288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86600" y="233172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233172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updates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1810512"/>
            <a:ext cx="365760" cy="795528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6720840" y="2971800"/>
            <a:ext cx="365760" cy="795528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3768" y="502920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DCE6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83768" y="5029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Briefs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18208" y="3246120"/>
            <a:ext cx="5951372" cy="1783080"/>
          </a:xfrm>
          <a:prstGeom prst="line">
            <a:avLst/>
          </a:prstGeom>
          <a:noFill/>
          <a:ln w="1905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535528" y="502920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DCE6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35528" y="5029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Chat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69968" y="3246120"/>
            <a:ext cx="3299612" cy="1783080"/>
          </a:xfrm>
          <a:prstGeom prst="line">
            <a:avLst/>
          </a:prstGeom>
          <a:noFill/>
          <a:ln w="1905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87288" y="502920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DCE6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87288" y="5029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21728" y="3246120"/>
            <a:ext cx="647852" cy="1783080"/>
          </a:xfrm>
          <a:prstGeom prst="line">
            <a:avLst/>
          </a:prstGeom>
          <a:noFill/>
          <a:ln w="1905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839048" y="5029200"/>
            <a:ext cx="2468880" cy="685800"/>
          </a:xfrm>
          <a:prstGeom prst="roundRect">
            <a:avLst>
              <a:gd name="adj" fmla="val 12000"/>
            </a:avLst>
          </a:prstGeom>
          <a:solidFill>
            <a:srgbClr val="DCE6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839048" y="5029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Assistant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69580" y="3246120"/>
            <a:ext cx="2003908" cy="1783080"/>
          </a:xfrm>
          <a:prstGeom prst="line">
            <a:avLst/>
          </a:prstGeom>
          <a:noFill/>
          <a:ln w="1905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Event-Sourced CQRS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040880" cy="548640"/>
          </a:xfrm>
          <a:prstGeom prst="roundRect">
            <a:avLst>
              <a:gd name="adj" fmla="val 15000"/>
            </a:avLst>
          </a:prstGeom>
          <a:solidFill>
            <a:srgbClr val="E9EFF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002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7040880" cy="548640"/>
          </a:xfrm>
          <a:prstGeom prst="roundRect">
            <a:avLst>
              <a:gd name="adj" fmla="val 15000"/>
            </a:avLst>
          </a:prstGeom>
          <a:solidFill>
            <a:srgbClr val="2E539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3317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Handler (validates)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7040880" cy="54864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0632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Store (append-only)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77640" y="2148840"/>
            <a:ext cx="9144" cy="18288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77640" y="2880360"/>
            <a:ext cx="9144" cy="18288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794760"/>
            <a:ext cx="3337560" cy="548640"/>
          </a:xfrm>
          <a:prstGeom prst="roundRect">
            <a:avLst>
              <a:gd name="adj" fmla="val 15000"/>
            </a:avLst>
          </a:prstGeom>
          <a:solidFill>
            <a:srgbClr val="DCE6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7947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Builder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model)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0520" y="3794760"/>
            <a:ext cx="3337560" cy="548640"/>
          </a:xfrm>
          <a:prstGeom prst="roundRect">
            <a:avLst>
              <a:gd name="adj" fmla="val 15000"/>
            </a:avLst>
          </a:prstGeom>
          <a:solidFill>
            <a:srgbClr val="DCE6F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60520" y="37947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/ RAG Projector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 model)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25980" y="3611880"/>
            <a:ext cx="160020" cy="18288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0" y="3611880"/>
            <a:ext cx="160020" cy="18288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125980" y="4343400"/>
            <a:ext cx="1851660" cy="18288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77640" y="4343400"/>
            <a:ext cx="1851660" cy="18288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4526280"/>
            <a:ext cx="7040880" cy="54864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5262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API (read-only, role-split)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125980" y="5074920"/>
            <a:ext cx="9144" cy="18288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829300" y="5074920"/>
            <a:ext cx="9144" cy="18288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5257800"/>
            <a:ext cx="3337560" cy="502920"/>
          </a:xfrm>
          <a:prstGeom prst="roundRect">
            <a:avLst>
              <a:gd name="adj" fmla="val 1636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52578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Copilot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160520" y="5257800"/>
            <a:ext cx="3337560" cy="502920"/>
          </a:xfrm>
          <a:prstGeom prst="roundRect">
            <a:avLst>
              <a:gd name="adj" fmla="val 1636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160520" y="525780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Assistant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18120" y="1600200"/>
            <a:ext cx="3913632" cy="4160520"/>
          </a:xfrm>
          <a:prstGeom prst="roundRect">
            <a:avLst>
              <a:gd name="adj" fmla="val 2103"/>
            </a:avLst>
          </a:prstGeom>
          <a:solidFill>
            <a:srgbClr val="FFFFFF"/>
          </a:solidFill>
          <a:ln w="19050">
            <a:solidFill>
              <a:srgbClr val="129C8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92440" y="1783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 log is the sole source of truth.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92440" y="24231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 model — Knowledge Profile, Timeline, RAG indexes — is a disposable, rebuildable projection. Nothing is ever written to a read model directly.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092440" y="3703320"/>
            <a:ext cx="3383280" cy="0"/>
          </a:xfrm>
          <a:prstGeom prst="line">
            <a:avLst/>
          </a:prstGeom>
          <a:noFill/>
          <a:ln w="12700">
            <a:solidFill>
              <a:srgbClr val="C7D3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388620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2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a full replay of the event log reconstructs an identical Knowledge Profile from scratch.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Builder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6949440" cy="283464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fields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Overwrite (latest wins)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current_phase, active_restrictions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valid value replaces the old 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pain_history, milestones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Accumulates; nothing is ever discarded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/ recomputed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pain_trend, exercise_adherence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Recalculated from history; never directly settable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Immutable-once-set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injury, surgery_date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conflicting value triggers review, never a silent overwrite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800600"/>
            <a:ext cx="6949440" cy="1051560"/>
          </a:xfrm>
          <a:prstGeom prst="roundRect">
            <a:avLst>
              <a:gd name="adj" fmla="val 7826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480060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is assigned one of these four strategies by fixed, auditable Python logic — never by the LLM.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80960" y="1737360"/>
            <a:ext cx="4050792" cy="4114800"/>
          </a:xfrm>
          <a:prstGeom prst="roundRect">
            <a:avLst>
              <a:gd name="adj" fmla="val 2032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19202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QUEUE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955280" y="221284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uncertain reaches the profile automatically.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955280" y="297180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baseline-conflicting facts are staged, not merged.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therapist reviews each one and can approve (optionally editing it) or reject it.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Knowledge Profile — and therefore a brief or chat answer — until it’s auto-merged with confidence or explicitly approved.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Extraction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fact gets extracted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395728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7D3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957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54680" y="2852928"/>
            <a:ext cx="9144" cy="146304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2999232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7D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992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Schema-Constrained Prompt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3456432"/>
            <a:ext cx="9144" cy="146304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3602736"/>
            <a:ext cx="48463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7D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027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Facts (value + confidence + source quote)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9050">
            <a:solidFill>
              <a:srgbClr val="129C8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2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 proposes. Deterministic code decides.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482803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decides how a conflict is resolved or which merge strategy applies — that mapping is fixed logic, keyed by field name.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737360"/>
            <a:ext cx="5559552" cy="4114800"/>
          </a:xfrm>
          <a:prstGeom prst="roundRect">
            <a:avLst>
              <a:gd name="adj" fmla="val 2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STRATEGY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23317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2C4278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2940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extraction, briefs, assistant &amp; copilot answers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778240" y="2852928"/>
            <a:ext cx="274320" cy="9144"/>
          </a:xfrm>
          <a:prstGeom prst="line">
            <a:avLst/>
          </a:prstGeom>
          <a:noFill/>
          <a:ln w="25400">
            <a:solidFill>
              <a:srgbClr val="129C8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98280" y="23317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2C4278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81160" y="2395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1160" y="2743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fallback + sole embeddings provider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36576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provider-agnostic client module — callers depend only on a fixed interface (extract_facts, generate_brief_text, embed_text…), never on provider-specific types.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46520" y="4754880"/>
            <a:ext cx="4937760" cy="0"/>
          </a:xfrm>
          <a:prstGeom prst="line">
            <a:avLst/>
          </a:prstGeom>
          <a:noFill/>
          <a:ln w="12700">
            <a:solidFill>
              <a:srgbClr val="3D51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9377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split: Gemini’s free-tier quota for its stronger model was exhausted in development (20 req/day) — forcing a provider strategy that doesn’t depend on one constrained model.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Walls Between Knowledge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E9EFF9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19431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Per-Patient Notes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355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2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note residual text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749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by patient and source type at query 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2E5395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74436" y="2103120"/>
            <a:ext cx="640080" cy="640080"/>
          </a:xfrm>
          <a:prstGeom prst="ellipse">
            <a:avLst/>
          </a:prstGeom>
          <a:solidFill>
            <a:srgbClr val="4A6099"/>
          </a:solidFill>
          <a:ln/>
        </p:spPr>
      </p:sp>
      <p:sp>
        <p:nvSpPr>
          <p:cNvPr id="13" name="Text 11"/>
          <p:cNvSpPr/>
          <p:nvPr/>
        </p:nvSpPr>
        <p:spPr>
          <a:xfrm>
            <a:off x="5774436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17136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Guidelines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17136" y="3355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Copilot-only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08576" y="3749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corpus, accessible only to the Therapist Copilot.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9872" y="1783080"/>
            <a:ext cx="3611880" cy="3063240"/>
          </a:xfrm>
          <a:prstGeom prst="roundRect">
            <a:avLst>
              <a:gd name="adj" fmla="val 2687"/>
            </a:avLst>
          </a:prstGeom>
          <a:solidFill>
            <a:srgbClr val="E9EFF9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5772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9605772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48472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Education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48472" y="33558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29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Assistant-only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39912" y="37490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corpus, accessible only to the Patient Assistant.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07492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C7D3E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50749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unstructured prose is ever embedded — never structured fields, timeline metadata, or identifiers. A schema-allowlist check rejects any chunk that near-matches a known structured field before it can enter an index.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Guardrails, Not Just Guidelines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74552" cy="1143000"/>
          </a:xfrm>
          <a:prstGeom prst="roundRect">
            <a:avLst>
              <a:gd name="adj" fmla="val 72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safety mechanism is deterministic, not a prompt suggestion.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word-boundary keyword gate redirects symptom/urgent patient questions to the clinic before any LLM call runs — the model’s own judgment is only a secondary backstop.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3310128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218688"/>
            <a:ext cx="2697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bcrypt, never stored or logged in plaintext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310896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9704" y="3310128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74336" y="3218688"/>
            <a:ext cx="2697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JWTs — 15-minute access tokens, 7-day refresh tokens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310896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3310128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05672" y="3218688"/>
            <a:ext cx="2697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enforced structurally at the query level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773168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4681728"/>
            <a:ext cx="2697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explicitly scoped to the deployed frontend’s origin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88536" y="45720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9704" y="4773168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25" name="Text 23"/>
          <p:cNvSpPr/>
          <p:nvPr/>
        </p:nvSpPr>
        <p:spPr>
          <a:xfrm>
            <a:off x="4489704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74336" y="4681728"/>
            <a:ext cx="2697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 posture enforced by architecture, not just prompts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19872" y="4572000"/>
            <a:ext cx="3611880" cy="1234440"/>
          </a:xfrm>
          <a:prstGeom prst="roundRect">
            <a:avLst>
              <a:gd name="adj" fmla="val 6667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4773168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4773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05672" y="4681728"/>
            <a:ext cx="26974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patient data only — no production PHI handling yet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Two Very Different Days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440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11680"/>
            <a:ext cx="5440680" cy="2743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373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Therapist Shell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691640" cy="3429000"/>
          </a:xfrm>
          <a:prstGeom prst="rect">
            <a:avLst/>
          </a:prstGeom>
          <a:solidFill>
            <a:srgbClr val="E9EFF9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2514600"/>
            <a:ext cx="1362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" y="2990088"/>
            <a:ext cx="1362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990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Caseload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" y="3465576"/>
            <a:ext cx="1362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4655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" y="3941064"/>
            <a:ext cx="1362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9410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Per-patient tabs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77440" y="2514600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3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0" y="3172968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3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3831336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3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5212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sidebar → contextual per-patient sidebar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91072" y="1737360"/>
            <a:ext cx="544068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91072" y="1737360"/>
            <a:ext cx="5440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1737360"/>
            <a:ext cx="5440680" cy="548640"/>
          </a:xfrm>
          <a:prstGeom prst="roundRect">
            <a:avLst>
              <a:gd name="adj" fmla="val 15000"/>
            </a:avLst>
          </a:prstGeom>
          <a:solidFill>
            <a:srgbClr val="2E5395"/>
          </a:solidFill>
          <a:ln/>
        </p:spPr>
      </p:sp>
      <p:sp>
        <p:nvSpPr>
          <p:cNvPr id="26" name="Shape 24"/>
          <p:cNvSpPr/>
          <p:nvPr/>
        </p:nvSpPr>
        <p:spPr>
          <a:xfrm>
            <a:off x="6291072" y="2011680"/>
            <a:ext cx="5440680" cy="274320"/>
          </a:xfrm>
          <a:prstGeom prst="rect">
            <a:avLst/>
          </a:prstGeom>
          <a:solidFill>
            <a:srgbClr val="2E5395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17373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Portal Shell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91072" y="2286000"/>
            <a:ext cx="1691640" cy="3429000"/>
          </a:xfrm>
          <a:prstGeom prst="rect">
            <a:avLst/>
          </a:prstGeom>
          <a:solidFill>
            <a:srgbClr val="E9EFF9"/>
          </a:solidFill>
          <a:ln/>
        </p:spPr>
      </p:sp>
      <p:sp>
        <p:nvSpPr>
          <p:cNvPr id="29" name="Shape 27"/>
          <p:cNvSpPr/>
          <p:nvPr/>
        </p:nvSpPr>
        <p:spPr>
          <a:xfrm>
            <a:off x="6455664" y="2514600"/>
            <a:ext cx="1362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47104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55664" y="2990088"/>
            <a:ext cx="1362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547104" y="2990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55664" y="3465576"/>
            <a:ext cx="1362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547104" y="34655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55664" y="3941064"/>
            <a:ext cx="136245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547104" y="394106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Assistant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11312" y="2514600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3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8211312" y="3172968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3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8211312" y="3831336"/>
            <a:ext cx="3291840" cy="502920"/>
          </a:xfrm>
          <a:prstGeom prst="roundRect">
            <a:avLst>
              <a:gd name="adj" fmla="val 9091"/>
            </a:avLst>
          </a:prstGeom>
          <a:solidFill>
            <a:srgbClr val="F3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6519672" y="5212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sidebar, one role, one experience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layout code — independent, role-specific experiences, not one generic shell with conditional rendering.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Just Promises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291840" cy="4114800"/>
          </a:xfrm>
          <a:prstGeom prst="roundRect">
            <a:avLst>
              <a:gd name="adj" fmla="val 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3520440"/>
            <a:ext cx="1828800" cy="0"/>
          </a:xfrm>
          <a:prstGeom prst="line">
            <a:avLst/>
          </a:prstGeom>
          <a:noFill/>
          <a:ln w="12700">
            <a:solidFill>
              <a:srgbClr val="3D51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033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spanning every module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9FB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patients · documents · profile/merge · RAG · timeline · briefs · copilot · assistant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737360"/>
          <a:ext cx="7708392" cy="3063240"/>
        </p:xfrm>
        <a:graphic>
          <a:graphicData uri="http://schemas.openxmlformats.org/drawingml/2006/table">
            <a:tbl>
              <a:tblPr/>
              <a:tblGrid>
                <a:gridCol w="2770632"/>
                <a:gridCol w="1645920"/>
                <a:gridCol w="16459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active_concerns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active_restrictions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surgery_date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injury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9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023360" y="4983480"/>
            <a:ext cx="7708392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7D3E6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297680" y="49834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perfect on every field — the pipeline never misses a fact it should find. Lower precision on injury/milestones is a scoring-methodology artifact, not hallucination.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Production — For $0/Month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6675120" cy="914400"/>
          </a:xfrm>
          <a:prstGeom prst="roundRect">
            <a:avLst>
              <a:gd name="adj" fmla="val 9000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37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 Apps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51760" y="2194560"/>
            <a:ext cx="320040" cy="9144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7373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17373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(API, scale-to-zero)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194560"/>
            <a:ext cx="320040" cy="9144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440680" y="17373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0" y="2651760"/>
            <a:ext cx="9144" cy="411480"/>
          </a:xfrm>
          <a:prstGeom prst="line">
            <a:avLst/>
          </a:prstGeom>
          <a:noFill/>
          <a:ln w="25400">
            <a:solidFill>
              <a:srgbClr val="2E539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423160" y="30632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2E5395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3063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— Celery Worker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public IP)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66751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129C82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4348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hybrid split?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480060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is the only piece that must be reachable from the internet. The worker only needs outbound access — so it runs on a VM with no public IP at all, removing the one guaranteed recurring cost and avoiding hand-rolled TLS.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37360"/>
          <a:ext cx="4233672" cy="2834640"/>
        </p:xfrm>
        <a:graphic>
          <a:graphicData uri="http://schemas.openxmlformats.org/drawingml/2006/table">
            <a:tbl>
              <a:tblPr/>
              <a:tblGrid>
                <a:gridCol w="1371600"/>
                <a:gridCol w="1947672"/>
                <a:gridCol w="914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Static Web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Apps (scale-to-zero)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VM, no public 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Flexible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Cache/broker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Upstash Redis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Blob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498080" y="4800600"/>
            <a:ext cx="4233672" cy="1325880"/>
          </a:xfrm>
          <a:prstGeom prst="roundRect">
            <a:avLst>
              <a:gd name="adj" fmla="val 6207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98080" y="4846320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9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7498080" y="5532120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net cost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197864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Works, End to 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a seeded synthetic ACL patient journey, pre-op through several months post-op.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276856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2084832"/>
            <a:ext cx="4507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onboarding, patient intake, and invite-based account activation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2011680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276856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04304" y="2084832"/>
            <a:ext cx="4507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with live "Processing" → extracted status, confidence, and source attribution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355848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70432" y="3163824"/>
            <a:ext cx="4507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contradicting facts routed to a therapist review queue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91072" y="3090672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355848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04304" y="3163824"/>
            <a:ext cx="4507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prep briefs, populated from real profile, timeline, and RAG context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69664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4434840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70432" y="4242816"/>
            <a:ext cx="4507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copilot chat, grounded in live data every turn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91072" y="4169664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4434840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04304" y="4242816"/>
            <a:ext cx="4507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Forward-only phase advancement, rejected out of sequence at the command handler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5248656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8368" y="5513832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70432" y="5321808"/>
            <a:ext cx="4507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check-ins and a scoped assistant with clinic-redirect for urgent questions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91072" y="5248656"/>
            <a:ext cx="5440680" cy="896112"/>
          </a:xfrm>
          <a:prstGeom prst="roundRect">
            <a:avLst>
              <a:gd name="adj" fmla="val 9184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5513832"/>
            <a:ext cx="365760" cy="365760"/>
          </a:xfrm>
          <a:prstGeom prst="ellipse">
            <a:avLst/>
          </a:prstGeom>
          <a:solidFill>
            <a:srgbClr val="129C82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04304" y="5321808"/>
            <a:ext cx="4507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event-log replay, and the same stack running live in production on Azure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Took — And What’s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E9EFF9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2E5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Injury-contradiction false positives, fixed by moving from exact-match to keyword-based comparison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free-tier quota limits forced a Groq-primary / Gemini-fallback provider strategy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auto-merge reworked into an explicit staged-fact review queue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cost-driven split — worker on a free VM, API scaling to zero — shaped the deployment architecture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91072" y="1737360"/>
            <a:ext cx="5440680" cy="4114800"/>
          </a:xfrm>
          <a:prstGeom prst="roundRect">
            <a:avLst>
              <a:gd name="adj" fmla="val 2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01600" dist="38100" dir="5400000">
              <a:srgbClr val="1B24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65392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65392" y="2331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per-protocol architecture beyond ACL reconstruction to other MSK protocols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agentic behavior in the copilot — iterative querying, caseload-wide triage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security hardening: managed secrets, centralized logging, registry migration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extraction evaluation’s scoring methodology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76895" y="65288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029200" cy="5029200"/>
          </a:xfrm>
          <a:prstGeom prst="ellipse">
            <a:avLst/>
          </a:prstGeom>
          <a:solidFill>
            <a:srgbClr val="25396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657600"/>
            <a:ext cx="4206240" cy="4206240"/>
          </a:xfrm>
          <a:prstGeom prst="ellipse">
            <a:avLst/>
          </a:prstGeom>
          <a:solidFill>
            <a:srgbClr val="2539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601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working clinical software system — not individual pieces of technology in isolation, but one coherent application, live in production.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3657600"/>
            <a:ext cx="10360152" cy="0"/>
          </a:xfrm>
          <a:prstGeom prst="line">
            <a:avLst/>
          </a:prstGeom>
          <a:noFill/>
          <a:ln w="12700">
            <a:solidFill>
              <a:srgbClr val="3D51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7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HEALTH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62495" y="6309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Scaffold Health — Final Project Presentation</dc:title>
  <dc:subject>PptxGenJS Presentation</dc:subject>
  <dc:creator>Scaffold Health</dc:creator>
  <cp:lastModifiedBy>Scaffold Health</cp:lastModifiedBy>
  <cp:revision>1</cp:revision>
  <dcterms:created xsi:type="dcterms:W3CDTF">2026-08-18T06:27:36Z</dcterms:created>
  <dcterms:modified xsi:type="dcterms:W3CDTF">2026-08-18T06:27:36Z</dcterms:modified>
</cp:coreProperties>
</file>